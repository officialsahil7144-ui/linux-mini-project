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ont" id="{CCDA86D8-AE25-9B73-47CF-CE3F429AABB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63097D-4B5C-44A9-9742-01FDFED3DBC4}" v="3" dt="2026-10-14T03:43:27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il kumar" userId="1c29dec59fa6d404" providerId="LiveId" clId="{EAA90327-7D06-4CEF-ACB7-7EC8C5F59FEE}"/>
    <pc:docChg chg="undo custSel modSld">
      <pc:chgData name="sahil kumar" userId="1c29dec59fa6d404" providerId="LiveId" clId="{EAA90327-7D06-4CEF-ACB7-7EC8C5F59FEE}" dt="2026-10-14T03:46:27.814" v="19" actId="478"/>
      <pc:docMkLst>
        <pc:docMk/>
      </pc:docMkLst>
      <pc:sldChg chg="addSp modSp mod">
        <pc:chgData name="sahil kumar" userId="1c29dec59fa6d404" providerId="LiveId" clId="{EAA90327-7D06-4CEF-ACB7-7EC8C5F59FEE}" dt="2026-10-14T03:43:27.702" v="18"/>
        <pc:sldMkLst>
          <pc:docMk/>
          <pc:sldMk cId="0" sldId="256"/>
        </pc:sldMkLst>
        <pc:spChg chg="mod">
          <ac:chgData name="sahil kumar" userId="1c29dec59fa6d404" providerId="LiveId" clId="{EAA90327-7D06-4CEF-ACB7-7EC8C5F59FEE}" dt="2026-10-13T08:14:10.249" v="13" actId="404"/>
          <ac:spMkLst>
            <pc:docMk/>
            <pc:sldMk cId="0" sldId="256"/>
            <ac:spMk id="3" creationId="{00000000-0000-0000-0000-000000000000}"/>
          </ac:spMkLst>
        </pc:spChg>
        <pc:spChg chg="mod">
          <ac:chgData name="sahil kumar" userId="1c29dec59fa6d404" providerId="LiveId" clId="{EAA90327-7D06-4CEF-ACB7-7EC8C5F59FEE}" dt="2026-10-13T08:14:10.249" v="13" actId="404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hil kumar" userId="1c29dec59fa6d404" providerId="LiveId" clId="{EAA90327-7D06-4CEF-ACB7-7EC8C5F59FEE}" dt="2026-10-13T08:14:10.249" v="13" actId="404"/>
          <ac:spMkLst>
            <pc:docMk/>
            <pc:sldMk cId="0" sldId="256"/>
            <ac:spMk id="7" creationId="{00000000-0000-0000-0000-000000000000}"/>
          </ac:spMkLst>
        </pc:spChg>
        <pc:spChg chg="mod">
          <ac:chgData name="sahil kumar" userId="1c29dec59fa6d404" providerId="LiveId" clId="{EAA90327-7D06-4CEF-ACB7-7EC8C5F59FEE}" dt="2026-10-13T08:14:10.249" v="13" actId="404"/>
          <ac:spMkLst>
            <pc:docMk/>
            <pc:sldMk cId="0" sldId="256"/>
            <ac:spMk id="8" creationId="{00000000-0000-0000-0000-000000000000}"/>
          </ac:spMkLst>
        </pc:spChg>
        <pc:spChg chg="mod">
          <ac:chgData name="sahil kumar" userId="1c29dec59fa6d404" providerId="LiveId" clId="{EAA90327-7D06-4CEF-ACB7-7EC8C5F59FEE}" dt="2026-10-13T08:14:10.249" v="13" actId="404"/>
          <ac:spMkLst>
            <pc:docMk/>
            <pc:sldMk cId="0" sldId="256"/>
            <ac:spMk id="9" creationId="{00000000-0000-0000-0000-000000000000}"/>
          </ac:spMkLst>
        </pc:spChg>
        <pc:spChg chg="mod">
          <ac:chgData name="sahil kumar" userId="1c29dec59fa6d404" providerId="LiveId" clId="{EAA90327-7D06-4CEF-ACB7-7EC8C5F59FEE}" dt="2026-10-13T08:14:10.249" v="13" actId="404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ahil kumar" userId="1c29dec59fa6d404" providerId="LiveId" clId="{EAA90327-7D06-4CEF-ACB7-7EC8C5F59FEE}" dt="2026-10-13T08:14:10.249" v="13" actId="404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ahil kumar" userId="1c29dec59fa6d404" providerId="LiveId" clId="{EAA90327-7D06-4CEF-ACB7-7EC8C5F59FEE}" dt="2026-10-13T08:14:10.249" v="13" actId="404"/>
          <ac:spMkLst>
            <pc:docMk/>
            <pc:sldMk cId="0" sldId="256"/>
            <ac:spMk id="16" creationId="{00000000-0000-0000-0000-000000000000}"/>
          </ac:spMkLst>
        </pc:spChg>
        <pc:spChg chg="mod">
          <ac:chgData name="sahil kumar" userId="1c29dec59fa6d404" providerId="LiveId" clId="{EAA90327-7D06-4CEF-ACB7-7EC8C5F59FEE}" dt="2026-10-13T08:14:10.249" v="13" actId="404"/>
          <ac:spMkLst>
            <pc:docMk/>
            <pc:sldMk cId="0" sldId="256"/>
            <ac:spMk id="18" creationId="{00000000-0000-0000-0000-000000000000}"/>
          </ac:spMkLst>
        </pc:spChg>
        <pc:spChg chg="mod">
          <ac:chgData name="sahil kumar" userId="1c29dec59fa6d404" providerId="LiveId" clId="{EAA90327-7D06-4CEF-ACB7-7EC8C5F59FEE}" dt="2026-10-13T08:14:10.249" v="13" actId="404"/>
          <ac:spMkLst>
            <pc:docMk/>
            <pc:sldMk cId="0" sldId="256"/>
            <ac:spMk id="19" creationId="{00000000-0000-0000-0000-000000000000}"/>
          </ac:spMkLst>
        </pc:spChg>
        <pc:spChg chg="add mod">
          <ac:chgData name="sahil kumar" userId="1c29dec59fa6d404" providerId="LiveId" clId="{EAA90327-7D06-4CEF-ACB7-7EC8C5F59FEE}" dt="2026-10-13T09:34:49.039" v="14" actId="767"/>
          <ac:spMkLst>
            <pc:docMk/>
            <pc:sldMk cId="0" sldId="256"/>
            <ac:spMk id="20" creationId="{0AE5D098-8E99-84CD-660F-C46545F1C887}"/>
          </ac:spMkLst>
        </pc:spChg>
      </pc:sldChg>
      <pc:sldChg chg="delSp mod">
        <pc:chgData name="sahil kumar" userId="1c29dec59fa6d404" providerId="LiveId" clId="{EAA90327-7D06-4CEF-ACB7-7EC8C5F59FEE}" dt="2026-10-14T03:46:27.814" v="19" actId="478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430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front slide for all teams. Replace the title, team name, student names and roll numbers. Keep the logo, department and year/semester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L logo" descr="KL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2194560" cy="1057523"/>
          </a:xfrm>
          <a:prstGeom prst="rect">
            <a:avLst/>
          </a:prstGeom>
        </p:spPr>
      </p:pic>
      <p:sp>
        <p:nvSpPr>
          <p:cNvPr id="3" name="Chip Dept. of CSA – BCA"/>
          <p:cNvSpPr/>
          <p:nvPr/>
        </p:nvSpPr>
        <p:spPr>
          <a:xfrm>
            <a:off x="6400800" y="411480"/>
            <a:ext cx="228600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Chip text Dept. of CSA – BCA"/>
          <p:cNvSpPr txBox="1"/>
          <p:nvPr/>
        </p:nvSpPr>
        <p:spPr>
          <a:xfrm>
            <a:off x="6400800" y="411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Dept. of CSA – BCA</a:t>
            </a:r>
            <a:endParaRPr lang="en-US" sz="1400" dirty="0"/>
          </a:p>
        </p:txBody>
      </p:sp>
      <p:sp>
        <p:nvSpPr>
          <p:cNvPr id="5" name="Chip I Year – I Semester"/>
          <p:cNvSpPr/>
          <p:nvPr/>
        </p:nvSpPr>
        <p:spPr>
          <a:xfrm>
            <a:off x="6400800" y="886968"/>
            <a:ext cx="228600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Chip text I Year – I Semester"/>
          <p:cNvSpPr txBox="1"/>
          <p:nvPr/>
        </p:nvSpPr>
        <p:spPr>
          <a:xfrm>
            <a:off x="6400800" y="886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 Year – I Semester</a:t>
            </a:r>
            <a:endParaRPr lang="en-US" sz="14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/>
                </a:solidFill>
              </a:rPr>
              <a:t>Library Management System</a:t>
            </a:r>
            <a:endParaRPr lang="en-US" dirty="0"/>
          </a:p>
        </p:txBody>
      </p:sp>
      <p:sp>
        <p:nvSpPr>
          <p:cNvPr id="8" name="Team name pill"/>
          <p:cNvSpPr/>
          <p:nvPr/>
        </p:nvSpPr>
        <p:spPr>
          <a:xfrm>
            <a:off x="457200" y="2788920"/>
            <a:ext cx="475488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am name text"/>
          <p:cNvSpPr txBox="1"/>
          <p:nvPr/>
        </p:nvSpPr>
        <p:spPr>
          <a:xfrm>
            <a:off x="457200" y="2788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Team Name: IQOO</a:t>
            </a:r>
            <a:endParaRPr lang="en-US" sz="1600" dirty="0"/>
          </a:p>
        </p:txBody>
      </p:sp>
      <p:sp>
        <p:nvSpPr>
          <p:cNvPr id="10" name="Student card 1"/>
          <p:cNvSpPr/>
          <p:nvPr/>
        </p:nvSpPr>
        <p:spPr>
          <a:xfrm>
            <a:off x="457200" y="347472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tudent icon badge 1"/>
          <p:cNvSpPr/>
          <p:nvPr/>
        </p:nvSpPr>
        <p:spPr>
          <a:xfrm>
            <a:off x="68580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Student icon 1" descr="Studen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904488"/>
            <a:ext cx="237744" cy="237744"/>
          </a:xfrm>
          <a:prstGeom prst="rect">
            <a:avLst/>
          </a:prstGeom>
        </p:spPr>
      </p:pic>
      <p:sp>
        <p:nvSpPr>
          <p:cNvPr id="13" name="Student name 1"/>
          <p:cNvSpPr txBox="1"/>
          <p:nvPr/>
        </p:nvSpPr>
        <p:spPr>
          <a:xfrm>
            <a:off x="1417320" y="3639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/>
              <a:t>SAHIL KUMAR</a:t>
            </a:r>
            <a:endParaRPr lang="en-US" dirty="0"/>
          </a:p>
        </p:txBody>
      </p:sp>
      <p:sp>
        <p:nvSpPr>
          <p:cNvPr id="14" name="Roll number 1"/>
          <p:cNvSpPr txBox="1"/>
          <p:nvPr/>
        </p:nvSpPr>
        <p:spPr>
          <a:xfrm>
            <a:off x="1417320" y="4041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R.No: 2610520029</a:t>
            </a:r>
            <a:endParaRPr lang="en-US" sz="1600" dirty="0"/>
          </a:p>
        </p:txBody>
      </p:sp>
      <p:sp>
        <p:nvSpPr>
          <p:cNvPr id="15" name="Student card 2"/>
          <p:cNvSpPr/>
          <p:nvPr/>
        </p:nvSpPr>
        <p:spPr>
          <a:xfrm>
            <a:off x="4663440" y="347472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tudent icon badge 2"/>
          <p:cNvSpPr/>
          <p:nvPr/>
        </p:nvSpPr>
        <p:spPr>
          <a:xfrm>
            <a:off x="489204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Student icon 2" descr="Studen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904488"/>
            <a:ext cx="237744" cy="237744"/>
          </a:xfrm>
          <a:prstGeom prst="rect">
            <a:avLst/>
          </a:prstGeom>
        </p:spPr>
      </p:pic>
      <p:sp>
        <p:nvSpPr>
          <p:cNvPr id="18" name="Student name 2"/>
          <p:cNvSpPr txBox="1"/>
          <p:nvPr/>
        </p:nvSpPr>
        <p:spPr>
          <a:xfrm>
            <a:off x="5638074" y="3639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/>
              <a:t>GUNTI SAI KARTHIK</a:t>
            </a:r>
            <a:endParaRPr lang="en-US" dirty="0"/>
          </a:p>
        </p:txBody>
      </p:sp>
      <p:sp>
        <p:nvSpPr>
          <p:cNvPr id="19" name="Roll number 2"/>
          <p:cNvSpPr txBox="1"/>
          <p:nvPr/>
        </p:nvSpPr>
        <p:spPr>
          <a:xfrm>
            <a:off x="5623560" y="4041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R.No: 2610520028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E5D098-8E99-84CD-660F-C46545F1C887}"/>
              </a:ext>
            </a:extLst>
          </p:cNvPr>
          <p:cNvSpPr txBox="1"/>
          <p:nvPr/>
        </p:nvSpPr>
        <p:spPr>
          <a:xfrm>
            <a:off x="2911366" y="15450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System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886200" cy="315468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64008" cy="3154680"/>
          </a:xfrm>
          <a:prstGeom prst="rect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344168"/>
            <a:ext cx="359359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Manual library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709928"/>
            <a:ext cx="3575304" cy="2587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Book details may be kept in notebooks or separate files.</a:t>
            </a:r>
          </a:p>
          <a:p>
            <a:pPr algn="l">
              <a:spcAft>
                <a:spcPts val="300"/>
              </a:spcAft>
            </a:pPr>
            <a:endParaRPr sz="15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Finding a specific book takes time, and calculating late fines by hand can lead to mistakes.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298448"/>
            <a:ext cx="384048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11E36"/>
                </a:solidFill>
                <a:latin typeface="Aptos"/>
              </a:rPr>
              <a:t>The system should…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901952"/>
            <a:ext cx="91440" cy="91440"/>
          </a:xfrm>
          <a:prstGeom prst="roundRect">
            <a:avLst>
              <a:gd name="adj" fmla="val 12000"/>
            </a:avLst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1828800"/>
            <a:ext cx="36118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Save a book ID, title and author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2340864"/>
            <a:ext cx="91440" cy="91440"/>
          </a:xfrm>
          <a:prstGeom prst="roundRect">
            <a:avLst>
              <a:gd name="adj" fmla="val 12000"/>
            </a:avLst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83480" y="2267712"/>
            <a:ext cx="36118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Display all saved book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2779776"/>
            <a:ext cx="91440" cy="91440"/>
          </a:xfrm>
          <a:prstGeom prst="roundRect">
            <a:avLst>
              <a:gd name="adj" fmla="val 12000"/>
            </a:avLst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2706624"/>
            <a:ext cx="36118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Search by book 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3218688"/>
            <a:ext cx="91440" cy="91440"/>
          </a:xfrm>
          <a:prstGeom prst="roundRect">
            <a:avLst>
              <a:gd name="adj" fmla="val 12000"/>
            </a:avLst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3145536"/>
            <a:ext cx="36118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Calculate a fine from late days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657600"/>
            <a:ext cx="91440" cy="91440"/>
          </a:xfrm>
          <a:prstGeom prst="roundRect">
            <a:avLst>
              <a:gd name="adj" fmla="val 12000"/>
            </a:avLst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80" y="3584448"/>
            <a:ext cx="36118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Show clear messages for invalid input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System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64008" cy="1234440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435607"/>
            <a:ext cx="21945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Bash basics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801368"/>
            <a:ext cx="2176272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Write and run a simple shell script.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1325880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64408" y="1325880"/>
            <a:ext cx="64008" cy="1234440"/>
          </a:xfrm>
          <a:prstGeom prst="rect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1435607"/>
            <a:ext cx="21945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Variables &amp;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801368"/>
            <a:ext cx="2176272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Collect book details using read.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25896" y="1325880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25896" y="1325880"/>
            <a:ext cx="64008" cy="1234440"/>
          </a:xfrm>
          <a:prstGeom prst="rect">
            <a:avLst/>
          </a:prstGeom>
          <a:solidFill>
            <a:srgbClr val="299667"/>
          </a:solidFill>
          <a:ln>
            <a:solidFill>
              <a:srgbClr val="299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0488" y="1435607"/>
            <a:ext cx="21945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1801368"/>
            <a:ext cx="2176272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Use if-else to validate input.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834639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2834639"/>
            <a:ext cx="64008" cy="1234440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2944368"/>
            <a:ext cx="21945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Loops &amp; menu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3310127"/>
            <a:ext cx="2176272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Repeat choices until Exit is selected.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64408" y="2834639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64408" y="2834639"/>
            <a:ext cx="64008" cy="1234440"/>
          </a:xfrm>
          <a:prstGeom prst="rect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29000" y="2944368"/>
            <a:ext cx="21945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File handling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310127"/>
            <a:ext cx="2176272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Save records in books.txt.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25896" y="2834639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25896" y="2834639"/>
            <a:ext cx="64008" cy="1234440"/>
          </a:xfrm>
          <a:prstGeom prst="rect">
            <a:avLst/>
          </a:prstGeom>
          <a:solidFill>
            <a:srgbClr val="299667"/>
          </a:solidFill>
          <a:ln>
            <a:solidFill>
              <a:srgbClr val="299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0488" y="2944368"/>
            <a:ext cx="21945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Search &amp; arithmetic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3310127"/>
            <a:ext cx="2176272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Find book IDs and calculate fines.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Scope &amp;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System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886200" cy="315468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64008" cy="3154680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344168"/>
            <a:ext cx="359359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Project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709928"/>
            <a:ext cx="3575304" cy="2587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Small local collection of books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One user at a time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Terminal interface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Records stored in books.txt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Fine rate: ₹5 per late day</a:t>
            </a:r>
          </a:p>
          <a:p>
            <a:pPr algn="l">
              <a:spcAft>
                <a:spcPts val="3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The user enters the late-day count manually.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234440"/>
            <a:ext cx="3977639" cy="141732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7720" y="1234440"/>
            <a:ext cx="64008" cy="1417320"/>
          </a:xfrm>
          <a:prstGeom prst="rect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82312" y="1344168"/>
            <a:ext cx="3685031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709928"/>
            <a:ext cx="3666744" cy="8503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Ubuntu Linux or WSL • Bash • Terminal • nano or vim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2788920"/>
            <a:ext cx="3977639" cy="141732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17720" y="2788920"/>
            <a:ext cx="64008" cy="1417320"/>
          </a:xfrm>
          <a:prstGeom prst="rect">
            <a:avLst/>
          </a:prstGeom>
          <a:solidFill>
            <a:srgbClr val="299667"/>
          </a:solidFill>
          <a:ln>
            <a:solidFill>
              <a:srgbClr val="299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82312" y="2898648"/>
            <a:ext cx="3685031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264408"/>
            <a:ext cx="3666744" cy="8503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Computer or laptop • Keyboard and display • 4 GB RAM recommended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endParaRPr/>
          </a:p>
        </p:txBody>
      </p:sp>
      <p:sp>
        <p:nvSpPr>
          <p:cNvPr id="16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Existing vs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System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3886200" cy="306324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64008" cy="3063240"/>
          </a:xfrm>
          <a:prstGeom prst="rect">
            <a:avLst/>
          </a:prstGeom>
          <a:solidFill>
            <a:srgbClr val="D34F4F"/>
          </a:solidFill>
          <a:ln>
            <a:solidFill>
              <a:srgbClr val="D3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435607"/>
            <a:ext cx="359359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Existing: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801368"/>
            <a:ext cx="3575304" cy="2496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• Records may be scattered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• Searching can be slow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• Fine calculations are done by hand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• Errors are possible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• No command-line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325880"/>
            <a:ext cx="3886200" cy="306324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1325880"/>
            <a:ext cx="64008" cy="3063240"/>
          </a:xfrm>
          <a:prstGeom prst="rect">
            <a:avLst/>
          </a:prstGeom>
          <a:solidFill>
            <a:srgbClr val="299667"/>
          </a:solidFill>
          <a:ln>
            <a:solidFill>
              <a:srgbClr val="299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73752" y="1435607"/>
            <a:ext cx="359359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Proposed: Bash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1801368"/>
            <a:ext cx="3575304" cy="2496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• Book records saved in one file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• Search by book ID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• Fine calculated instantly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• Menu guides the user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• Input checks provide clear messages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Program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System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450592" cy="1078992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936" y="157276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" y="1572768"/>
            <a:ext cx="38404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563624"/>
            <a:ext cx="166420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39112"/>
            <a:ext cx="214884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3242"/>
                </a:solidFill>
                <a:latin typeface="Aptos"/>
              </a:rPr>
              <a:t>Run library.sh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39" y="1417320"/>
            <a:ext cx="2450592" cy="1078992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19856" y="157276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9856" y="1572768"/>
            <a:ext cx="38404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7" y="1563624"/>
            <a:ext cx="166420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Menu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7" y="2039112"/>
            <a:ext cx="214884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3242"/>
                </a:solidFill>
                <a:latin typeface="Aptos"/>
              </a:rPr>
              <a:t>Show five options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59" y="1417320"/>
            <a:ext cx="2450592" cy="1078992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08775" y="157276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08775" y="1572768"/>
            <a:ext cx="38404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7" y="1563624"/>
            <a:ext cx="166420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Choose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039112"/>
            <a:ext cx="214884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3242"/>
                </a:solidFill>
                <a:latin typeface="Aptos"/>
              </a:rPr>
              <a:t>Read menu choice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834640"/>
            <a:ext cx="2450592" cy="1078992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0936" y="29900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" y="2990088"/>
            <a:ext cx="38404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2980944"/>
            <a:ext cx="166420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Process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456432"/>
            <a:ext cx="214884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3242"/>
                </a:solidFill>
                <a:latin typeface="Aptos"/>
              </a:rPr>
              <a:t>Add / display / search / fine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39" y="2834640"/>
            <a:ext cx="2450592" cy="1078992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419856" y="29900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19856" y="2990088"/>
            <a:ext cx="38404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04487" y="2980944"/>
            <a:ext cx="166420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Repeat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7287" y="3456432"/>
            <a:ext cx="214884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3242"/>
                </a:solidFill>
                <a:latin typeface="Aptos"/>
              </a:rPr>
              <a:t>Return to menu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59" y="2834640"/>
            <a:ext cx="2450592" cy="1078992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208775" y="29900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08775" y="2990088"/>
            <a:ext cx="38404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7" y="2980944"/>
            <a:ext cx="166420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Exit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7" y="3456432"/>
            <a:ext cx="214884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3242"/>
                </a:solidFill>
                <a:latin typeface="Aptos"/>
              </a:rPr>
              <a:t>Stop when selected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434840"/>
            <a:ext cx="7955279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1">
                <a:solidFill>
                  <a:srgbClr val="64748B"/>
                </a:solidFill>
                <a:latin typeface="Aptos"/>
              </a:rPr>
              <a:t>The menu keeps running until the user chooses option 5: Exit.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System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2468880" cy="251460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64008" cy="2514600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481328"/>
            <a:ext cx="217627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847088"/>
            <a:ext cx="2157984" cy="19476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Menu choice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Book ID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Book title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Author name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Number of late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371600"/>
            <a:ext cx="2468880" cy="251460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64008" cy="2514600"/>
          </a:xfrm>
          <a:prstGeom prst="rect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1481328"/>
            <a:ext cx="217627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847088"/>
            <a:ext cx="2157984" cy="19476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Validate fields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Reject duplicate IDs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Search books.txt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Fine = days × ₹5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371600"/>
            <a:ext cx="2468880" cy="251460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64008" cy="2514600"/>
          </a:xfrm>
          <a:prstGeom prst="rect">
            <a:avLst/>
          </a:prstGeom>
          <a:solidFill>
            <a:srgbClr val="299667"/>
          </a:solidFill>
          <a:ln>
            <a:solidFill>
              <a:srgbClr val="299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6792" y="1481328"/>
            <a:ext cx="217627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1847088"/>
            <a:ext cx="2157984" cy="19476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Add confirmation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Book list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Search result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Fine amount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Error messages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423160"/>
            <a:ext cx="320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16AEA1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423160"/>
            <a:ext cx="320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16AEA1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79552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11E36"/>
                </a:solidFill>
                <a:latin typeface="Aptos"/>
              </a:rPr>
              <a:t>Data file format: BOOK_ID|TITLE|AUTHOR|STATUS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Fine Calculation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System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53312"/>
            <a:ext cx="7772400" cy="1024128"/>
          </a:xfrm>
          <a:prstGeom prst="roundRect">
            <a:avLst>
              <a:gd name="adj" fmla="val 12000"/>
            </a:avLst>
          </a:prstGeom>
          <a:solidFill>
            <a:srgbClr val="111E36"/>
          </a:solidFill>
          <a:ln>
            <a:solidFill>
              <a:srgbClr val="11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7406640" cy="56692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Fine = Number of late days × ₹5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8892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2944368"/>
            <a:ext cx="1554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64748B"/>
                </a:solidFill>
                <a:latin typeface="Aptos"/>
              </a:rPr>
              <a:t>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273552"/>
            <a:ext cx="15544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299667"/>
                </a:solidFill>
                <a:latin typeface="Aptos"/>
              </a:rPr>
              <a:t>₹0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78892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24912" y="2944368"/>
            <a:ext cx="1554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64748B"/>
                </a:solidFill>
                <a:latin typeface="Aptos"/>
              </a:rPr>
              <a:t>2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3273552"/>
            <a:ext cx="15544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16AEA1"/>
                </a:solidFill>
                <a:latin typeface="Aptos"/>
              </a:rPr>
              <a:t>₹10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278892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90872" y="2944368"/>
            <a:ext cx="1554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64748B"/>
                </a:solidFill>
                <a:latin typeface="Aptos"/>
              </a:rPr>
              <a:t>4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3273552"/>
            <a:ext cx="15544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F6A623"/>
                </a:solidFill>
                <a:latin typeface="Aptos"/>
              </a:rPr>
              <a:t>₹20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79" y="278892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56831" y="2944368"/>
            <a:ext cx="1554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64748B"/>
                </a:solidFill>
                <a:latin typeface="Aptos"/>
              </a:rPr>
              <a:t>7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1" y="3273552"/>
            <a:ext cx="15544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D34F4F"/>
                </a:solidFill>
                <a:latin typeface="Aptos"/>
              </a:rPr>
              <a:t>₹35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75438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1" dirty="0">
                <a:solidFill>
                  <a:srgbClr val="64748B"/>
                </a:solidFill>
                <a:latin typeface="Aptos"/>
              </a:rPr>
              <a:t>Important: late days are entered manually; issue and return dates are not tracked.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Implementation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System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7863840" cy="530352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307592"/>
            <a:ext cx="411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6AEA1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07592"/>
            <a:ext cx="19659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11E36"/>
                </a:solidFill>
                <a:latin typeface="Aptos"/>
              </a:rPr>
              <a:t>Create folder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307592"/>
            <a:ext cx="47091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Courier New"/>
              </a:rPr>
              <a:t>mkdir library_management_project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892808"/>
            <a:ext cx="7863840" cy="530352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1965960"/>
            <a:ext cx="411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6AEA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965960"/>
            <a:ext cx="19659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11E36"/>
                </a:solidFill>
                <a:latin typeface="Aptos"/>
              </a:rPr>
              <a:t>Open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65960"/>
            <a:ext cx="47091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Courier New"/>
              </a:rPr>
              <a:t>cd library_management_project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551176"/>
            <a:ext cx="7863840" cy="530352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2624328"/>
            <a:ext cx="411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6AEA1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624328"/>
            <a:ext cx="19659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11E36"/>
                </a:solidFill>
                <a:latin typeface="Aptos"/>
              </a:rPr>
              <a:t>Create 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624328"/>
            <a:ext cx="47091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Courier New"/>
              </a:rPr>
              <a:t>nano library.sh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09544"/>
            <a:ext cx="7863840" cy="530352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3282696"/>
            <a:ext cx="411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6AEA1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282696"/>
            <a:ext cx="19659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11E36"/>
                </a:solidFill>
                <a:latin typeface="Aptos"/>
              </a:rPr>
              <a:t>Allow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282696"/>
            <a:ext cx="47091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Courier New"/>
              </a:rPr>
              <a:t>chmod +x library.sh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67912"/>
            <a:ext cx="7863840" cy="530352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941064"/>
            <a:ext cx="411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6AEA1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941064"/>
            <a:ext cx="19659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11E36"/>
                </a:solidFill>
                <a:latin typeface="Aptos"/>
              </a:rPr>
              <a:t>Run 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941064"/>
            <a:ext cx="47091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Courier New"/>
              </a:rPr>
              <a:t>./library.sh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Key 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System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886200" cy="3291840"/>
          </a:xfrm>
          <a:prstGeom prst="roundRect">
            <a:avLst>
              <a:gd name="adj" fmla="val 12000"/>
            </a:avLst>
          </a:prstGeom>
          <a:solidFill>
            <a:srgbClr val="111E36"/>
          </a:solidFill>
          <a:ln>
            <a:solidFill>
              <a:srgbClr val="11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389888"/>
            <a:ext cx="3566160" cy="2971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#!/bin/bash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FILE="books.txt"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touch "$FILE"</a:t>
            </a:r>
          </a:p>
          <a:p>
            <a:pPr algn="l">
              <a:spcAft>
                <a:spcPts val="300"/>
              </a:spcAft>
            </a:pPr>
            <a:endParaRPr sz="1000" b="0" i="0">
              <a:solidFill>
                <a:srgbClr val="FFFFFF"/>
              </a:solidFill>
              <a:latin typeface="Courier New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while true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do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echo "1. Add Book"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echo "2. Display Books"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echo "3. Search Book"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echo "4. Calculate Fine"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echo "5. Exit"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read -p "Enter choice: " choice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case $choice in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  # menu actions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  esac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234440"/>
            <a:ext cx="3840480" cy="141732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09160" y="1234440"/>
            <a:ext cx="64008" cy="1417320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73752" y="1344168"/>
            <a:ext cx="354787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Menu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709928"/>
            <a:ext cx="3529584" cy="8503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while true repeats the menu until Exit breaks the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788920"/>
            <a:ext cx="3840480" cy="141732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09160" y="2788920"/>
            <a:ext cx="64008" cy="1417320"/>
          </a:xfrm>
          <a:prstGeom prst="rect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73752" y="2898648"/>
            <a:ext cx="354787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Case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3264408"/>
            <a:ext cx="3529584" cy="8503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case checks the selected option and runs the matching 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Key Logic: Search &amp; 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System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886200" cy="3291840"/>
          </a:xfrm>
          <a:prstGeom prst="roundRect">
            <a:avLst>
              <a:gd name="adj" fmla="val 12000"/>
            </a:avLst>
          </a:prstGeom>
          <a:solidFill>
            <a:srgbClr val="111E36"/>
          </a:solidFill>
          <a:ln>
            <a:solidFill>
              <a:srgbClr val="11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3566160" cy="2834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# Search by ID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if grep -q "^$id|" "$FILE"; then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  echo "Book found!"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else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  echo "Book not found!"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fi</a:t>
            </a:r>
          </a:p>
          <a:p>
            <a:pPr algn="l">
              <a:spcAft>
                <a:spcPts val="300"/>
              </a:spcAft>
            </a:pPr>
            <a:endParaRPr sz="1100" b="0" i="0">
              <a:solidFill>
                <a:srgbClr val="FFFFFF"/>
              </a:solidFill>
              <a:latin typeface="Courier New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# Fine calculation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if [[ "$days" =~ ^[0-9]+$ ]]; then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  fine=$((days * 5))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  echo "Fine Amount: Rs. $fine"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else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  echo "Invalid input!"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fi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234440"/>
            <a:ext cx="3840480" cy="141732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09160" y="1234440"/>
            <a:ext cx="64008" cy="1417320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73752" y="1344168"/>
            <a:ext cx="354787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grep -q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709928"/>
            <a:ext cx="3529584" cy="8503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Checks whether a book ID exists without printing the matching 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788920"/>
            <a:ext cx="3840480" cy="141732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09160" y="2788920"/>
            <a:ext cx="64008" cy="1417320"/>
          </a:xfrm>
          <a:prstGeom prst="rect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73752" y="2898648"/>
            <a:ext cx="354787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$((days * 5))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3264408"/>
            <a:ext cx="3529584" cy="8503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Performs arithmetic: late days multiplied by the fine 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Sample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System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4983480" cy="3337560"/>
          </a:xfrm>
          <a:prstGeom prst="roundRect">
            <a:avLst>
              <a:gd name="adj" fmla="val 12000"/>
            </a:avLst>
          </a:prstGeom>
          <a:solidFill>
            <a:srgbClr val="111E36"/>
          </a:solidFill>
          <a:ln>
            <a:solidFill>
              <a:srgbClr val="11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444752"/>
            <a:ext cx="4572000" cy="2926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===== LIBRARY MANAGEMENT SYSTEM =====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1. Add Book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2. Display Books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3. Search Book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4. Calculate Fine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5. Exit</a:t>
            </a:r>
          </a:p>
          <a:p>
            <a:pPr algn="l">
              <a:spcAft>
                <a:spcPts val="300"/>
              </a:spcAft>
            </a:pPr>
            <a:endParaRPr sz="1100" b="0" i="0">
              <a:solidFill>
                <a:srgbClr val="FFFFFF"/>
              </a:solidFill>
              <a:latin typeface="Courier New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Enter your choice: 4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Enter number of late days: 4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Late Days: 4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Fine Rate: Rs. 5 per day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urier New"/>
              </a:rPr>
              <a:t>Fine Amount: Rs.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508760"/>
            <a:ext cx="2606040" cy="109728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97880" y="1508760"/>
            <a:ext cx="64008" cy="1097280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62472" y="1618488"/>
            <a:ext cx="231343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1984248"/>
            <a:ext cx="2295144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4 late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2788920"/>
            <a:ext cx="2606040" cy="109728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97880" y="2788920"/>
            <a:ext cx="64008" cy="1097280"/>
          </a:xfrm>
          <a:prstGeom prst="rect">
            <a:avLst/>
          </a:prstGeom>
          <a:solidFill>
            <a:srgbClr val="299667"/>
          </a:solidFill>
          <a:ln>
            <a:solidFill>
              <a:srgbClr val="299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62472" y="2898648"/>
            <a:ext cx="231343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3264408"/>
            <a:ext cx="2295144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63242"/>
                </a:solidFill>
                <a:latin typeface="Aptos"/>
              </a:rPr>
              <a:t>Fine = ₹20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System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640080" cy="438912"/>
          </a:xfrm>
          <a:prstGeom prst="roundRect">
            <a:avLst>
              <a:gd name="adj" fmla="val 12000"/>
            </a:avLst>
          </a:prstGeom>
          <a:solidFill>
            <a:srgbClr val="111E36"/>
          </a:solidFill>
          <a:ln>
            <a:solidFill>
              <a:srgbClr val="11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307592"/>
            <a:ext cx="493775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1234440"/>
            <a:ext cx="2743200" cy="438912"/>
          </a:xfrm>
          <a:prstGeom prst="roundRect">
            <a:avLst>
              <a:gd name="adj" fmla="val 12000"/>
            </a:avLst>
          </a:prstGeom>
          <a:solidFill>
            <a:srgbClr val="111E36"/>
          </a:solidFill>
          <a:ln>
            <a:solidFill>
              <a:srgbClr val="11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9032" y="1307592"/>
            <a:ext cx="2596896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Input /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234440"/>
            <a:ext cx="4297680" cy="438912"/>
          </a:xfrm>
          <a:prstGeom prst="roundRect">
            <a:avLst>
              <a:gd name="adj" fmla="val 12000"/>
            </a:avLst>
          </a:prstGeom>
          <a:solidFill>
            <a:srgbClr val="111E36"/>
          </a:solidFill>
          <a:ln>
            <a:solidFill>
              <a:srgbClr val="11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9392" y="1307592"/>
            <a:ext cx="4151376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737360"/>
            <a:ext cx="640080" cy="384048"/>
          </a:xfrm>
          <a:prstGeom prst="rect">
            <a:avLst/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1801368"/>
            <a:ext cx="493775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63242"/>
                </a:solidFill>
                <a:latin typeface="Aptos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1737360"/>
            <a:ext cx="2743200" cy="384048"/>
          </a:xfrm>
          <a:prstGeom prst="rect">
            <a:avLst/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99032" y="1801368"/>
            <a:ext cx="259689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Add a new book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737360"/>
            <a:ext cx="4297680" cy="384048"/>
          </a:xfrm>
          <a:prstGeom prst="rect">
            <a:avLst/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9392" y="1801368"/>
            <a:ext cx="415137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Record is saved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176272"/>
            <a:ext cx="64008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2240279"/>
            <a:ext cx="493775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63242"/>
                </a:solidFill>
                <a:latin typeface="Aptos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2176272"/>
            <a:ext cx="274320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99032" y="2240279"/>
            <a:ext cx="259689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Display books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176272"/>
            <a:ext cx="429768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79392" y="2240279"/>
            <a:ext cx="415137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Saved books appear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615184"/>
            <a:ext cx="640080" cy="384048"/>
          </a:xfrm>
          <a:prstGeom prst="rect">
            <a:avLst/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2679191"/>
            <a:ext cx="493775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63242"/>
                </a:solidFill>
                <a:latin typeface="Aptos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" y="2615184"/>
            <a:ext cx="2743200" cy="384048"/>
          </a:xfrm>
          <a:prstGeom prst="rect">
            <a:avLst/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99032" y="2679191"/>
            <a:ext cx="259689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Search unknown 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2615184"/>
            <a:ext cx="4297680" cy="384048"/>
          </a:xfrm>
          <a:prstGeom prst="rect">
            <a:avLst/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79392" y="2679191"/>
            <a:ext cx="415137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Book not found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054096"/>
            <a:ext cx="64008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" y="3118103"/>
            <a:ext cx="493775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63242"/>
                </a:solidFill>
                <a:latin typeface="Aptos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25880" y="3054096"/>
            <a:ext cx="274320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99032" y="3118103"/>
            <a:ext cx="259689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Add duplicate 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3054096"/>
            <a:ext cx="429768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79392" y="3118103"/>
            <a:ext cx="415137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Duplicate is rejected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493008"/>
            <a:ext cx="640080" cy="384048"/>
          </a:xfrm>
          <a:prstGeom prst="rect">
            <a:avLst/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" y="3557015"/>
            <a:ext cx="493775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63242"/>
                </a:solidFill>
                <a:latin typeface="Aptos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25880" y="3493008"/>
            <a:ext cx="2743200" cy="384048"/>
          </a:xfrm>
          <a:prstGeom prst="rect">
            <a:avLst/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99032" y="3557015"/>
            <a:ext cx="259689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Enter 4 late days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493008"/>
            <a:ext cx="4297680" cy="384048"/>
          </a:xfrm>
          <a:prstGeom prst="rect">
            <a:avLst/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79392" y="3557015"/>
            <a:ext cx="415137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Fine is ₹20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931920"/>
            <a:ext cx="64008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" y="3995928"/>
            <a:ext cx="493775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63242"/>
                </a:solidFill>
                <a:latin typeface="Aptos"/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25880" y="3931920"/>
            <a:ext cx="274320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399032" y="3995928"/>
            <a:ext cx="259689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Enter -2 or letters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3931920"/>
            <a:ext cx="429768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79392" y="3995928"/>
            <a:ext cx="415137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Invalid input message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526280"/>
            <a:ext cx="77724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1">
                <a:solidFill>
                  <a:srgbClr val="64748B"/>
                </a:solidFill>
                <a:latin typeface="Aptos"/>
              </a:rPr>
              <a:t>Mark a test as passed only after running it in your own Linux environment.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Team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System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3794760" cy="265176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64008" cy="2651760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481328"/>
            <a:ext cx="350215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600" b="1" dirty="0"/>
              <a:t>SAHIL KUMAR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804671" y="1847088"/>
            <a:ext cx="3483864" cy="20848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Problem analysis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Menu and Bash logic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Add / search functionality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Fine calculation</a:t>
            </a:r>
          </a:p>
          <a:p>
            <a:pPr algn="l">
              <a:spcAft>
                <a:spcPts val="3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Deliverable: source code and algorithm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371600"/>
            <a:ext cx="3794760" cy="265176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1371600"/>
            <a:ext cx="64008" cy="2651760"/>
          </a:xfrm>
          <a:prstGeom prst="rect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73752" y="1481328"/>
            <a:ext cx="350215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600" b="1" dirty="0"/>
              <a:t>GUNTI SAI KARTHIK</a:t>
            </a: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4873752" y="1847088"/>
            <a:ext cx="3483864" cy="20848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Test cases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Sample output capture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Documentation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Presentation</a:t>
            </a:r>
          </a:p>
          <a:p>
            <a:pPr algn="l">
              <a:spcAft>
                <a:spcPts val="3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Deliverable: test evidence and project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Advantages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System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886200" cy="329184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64008" cy="3291840"/>
          </a:xfrm>
          <a:prstGeom prst="rect">
            <a:avLst/>
          </a:prstGeom>
          <a:solidFill>
            <a:srgbClr val="299667"/>
          </a:solidFill>
          <a:ln>
            <a:solidFill>
              <a:srgbClr val="299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359359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55648"/>
            <a:ext cx="3575304" cy="2724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Simple for beginners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Runs in the Linux terminal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Stores records locally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Searches books quickly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Calculates fines consistently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Demonstrates core Bash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280160"/>
            <a:ext cx="3886200" cy="329184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1280160"/>
            <a:ext cx="64008" cy="3291840"/>
          </a:xfrm>
          <a:prstGeom prst="rect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73752" y="1389888"/>
            <a:ext cx="359359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1755648"/>
            <a:ext cx="3575304" cy="2724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No graphical interface or login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Does not issue or return books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No borrower or due-date records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Late days are entered manually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Plain-text file is not suitable for large libraries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7955279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111E36"/>
                </a:solidFill>
                <a:latin typeface="Aptos"/>
              </a:rPr>
              <a:t>Future Enhancements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4023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16AEA1"/>
                </a:solidFill>
                <a:latin typeface="Aptos"/>
              </a:rPr>
              <a:t>LINUX MINI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4773168"/>
            <a:ext cx="8266175" cy="10972"/>
          </a:xfrm>
          <a:prstGeom prst="rect">
            <a:avLst/>
          </a:prstGeom>
          <a:solidFill>
            <a:srgbClr val="E1EAEF"/>
          </a:solidFill>
          <a:ln>
            <a:solidFill>
              <a:srgbClr val="E1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722376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64748B"/>
                </a:solidFill>
                <a:latin typeface="Aptos"/>
              </a:rPr>
              <a:t>Library Management •  IQOO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974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886200" cy="3154680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64008" cy="3154680"/>
          </a:xfrm>
          <a:prstGeom prst="rect">
            <a:avLst/>
          </a:prstGeom>
          <a:solidFill>
            <a:srgbClr val="F6A623"/>
          </a:solidFill>
          <a:ln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44168"/>
            <a:ext cx="359359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Possible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3575304" cy="2587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Add issue and return operations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Store borrower and due-date details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Calculate overdue days automatically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Add update and delete options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Use CSV or a database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Add login and backup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234440"/>
            <a:ext cx="3886200" cy="1874519"/>
          </a:xfrm>
          <a:prstGeom prst="roundRect">
            <a:avLst>
              <a:gd name="adj" fmla="val 12000"/>
            </a:avLst>
          </a:prstGeom>
          <a:solidFill>
            <a:srgbClr val="EFF7F8"/>
          </a:solidFill>
          <a:ln>
            <a:solidFill>
              <a:srgbClr val="EF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1234440"/>
            <a:ext cx="64008" cy="1874519"/>
          </a:xfrm>
          <a:prstGeom prst="rect">
            <a:avLst/>
          </a:prstGeom>
          <a:solidFill>
            <a:srgbClr val="16AEA1"/>
          </a:solidFill>
          <a:ln>
            <a:solidFill>
              <a:srgbClr val="16A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73752" y="1344168"/>
            <a:ext cx="3593592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1E36"/>
                </a:solidFill>
                <a:latin typeface="Aptos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1709928"/>
            <a:ext cx="3575304" cy="130759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This project demonstrates how Bash can automate basic book records and fine calculations using input, conditions, loops, searching and file handling.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3310128"/>
            <a:ext cx="3886200" cy="1078992"/>
          </a:xfrm>
          <a:prstGeom prst="roundRect">
            <a:avLst>
              <a:gd name="adj" fmla="val 12000"/>
            </a:avLst>
          </a:prstGeom>
          <a:solidFill>
            <a:srgbClr val="111E36"/>
          </a:solidFill>
          <a:ln>
            <a:solidFill>
              <a:srgbClr val="11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73752" y="3621024"/>
            <a:ext cx="3520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 dirty="0">
                <a:solidFill>
                  <a:srgbClr val="FFFFFF"/>
                </a:solidFill>
                <a:latin typeface="Apto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 Front Slide">
  <a:themeElements>
    <a:clrScheme name="KL Front Slide">
      <a:dk1>
        <a:srgbClr val="1F1A1A"/>
      </a:dk1>
      <a:lt1>
        <a:srgbClr val="FFFFFF"/>
      </a:lt1>
      <a:dk2>
        <a:srgbClr val="5A0000"/>
      </a:dk2>
      <a:lt2>
        <a:srgbClr val="F8EEEE"/>
      </a:lt2>
      <a:accent1>
        <a:srgbClr val="A90000"/>
      </a:accent1>
      <a:accent2>
        <a:srgbClr val="2BD7E0"/>
      </a:accent2>
      <a:accent3>
        <a:srgbClr val="F5A300"/>
      </a:accent3>
      <a:accent4>
        <a:srgbClr val="6B6B6B"/>
      </a:accent4>
      <a:accent5>
        <a:srgbClr val="8A1F2B"/>
      </a:accent5>
      <a:accent6>
        <a:srgbClr val="5C5252"/>
      </a:accent6>
      <a:hlink>
        <a:srgbClr val="A90000"/>
      </a:hlink>
      <a:folHlink>
        <a:srgbClr val="5C5252"/>
      </a:folHlink>
    </a:clrScheme>
    <a:fontScheme name="KL Front Sli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1209</Words>
  <Application>Microsoft Office PowerPoint</Application>
  <PresentationFormat>On-screen Show (16:9)</PresentationFormat>
  <Paragraphs>293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Courier New</vt:lpstr>
      <vt:lpstr>KL Front Slide</vt:lpstr>
      <vt:lpstr>Library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 Slide Template</dc:title>
  <dc:subject>PptxGenJS Presentation</dc:subject>
  <dc:creator>PptxGenJS</dc:creator>
  <cp:lastModifiedBy>sahil kumar</cp:lastModifiedBy>
  <cp:revision>2</cp:revision>
  <dcterms:created xsi:type="dcterms:W3CDTF">2026-10-09T09:20:33Z</dcterms:created>
  <dcterms:modified xsi:type="dcterms:W3CDTF">2026-10-17T17:37:21Z</dcterms:modified>
</cp:coreProperties>
</file>